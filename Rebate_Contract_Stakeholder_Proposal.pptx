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3868ad18ce4da3" /><Relationship Type="http://schemas.openxmlformats.org/officeDocument/2006/relationships/extended-properties" Target="/docProps/app.xml" Id="R13d089037aa24838" /><Relationship Type="http://schemas.openxmlformats.org/officeDocument/2006/relationships/officeDocument" Target="/ppt/presentation.xml" Id="Rf4101d38cdc84e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e132722da34185"/>
  </p:sldMasterIdLst>
  <p:notesMasterIdLst>
    <p:notesMasterId xmlns:r="http://schemas.openxmlformats.org/officeDocument/2006/relationships" r:id="R95e464704a0b4b32"/>
  </p:notesMasterIdLst>
  <p:sldIdLst>
    <p:sldId xmlns:r="http://schemas.openxmlformats.org/officeDocument/2006/relationships" id="256" r:id="R7c82309f7410471f"/>
    <p:sldId xmlns:r="http://schemas.openxmlformats.org/officeDocument/2006/relationships" id="257" r:id="Re51368b572be4ef2"/>
    <p:sldId xmlns:r="http://schemas.openxmlformats.org/officeDocument/2006/relationships" id="258" r:id="R2006ddd3c2ea481d"/>
    <p:sldId xmlns:r="http://schemas.openxmlformats.org/officeDocument/2006/relationships" id="259" r:id="R33f4cf92ebf649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81a871a37d4ed2" /><Relationship Type="http://schemas.openxmlformats.org/officeDocument/2006/relationships/slideMaster" Target="/ppt/slideMasters/slideMaster1.xml" Id="R2ae132722da34185" /><Relationship Type="http://schemas.openxmlformats.org/officeDocument/2006/relationships/notesMaster" Target="/ppt/notesMasters/notesMaster1.xml" Id="R95e464704a0b4b32" /><Relationship Type="http://schemas.openxmlformats.org/officeDocument/2006/relationships/presProps" Target="/ppt/presProps.xml" Id="R366087dc67564aa3" /><Relationship Type="http://schemas.openxmlformats.org/officeDocument/2006/relationships/tableStyles" Target="/ppt/tableStyles.xml" Id="Reb0f698b2c99439f" /><Relationship Type="http://schemas.openxmlformats.org/officeDocument/2006/relationships/slide" Target="/ppt/slides/slide1.xml" Id="R7c82309f7410471f" /><Relationship Type="http://schemas.openxmlformats.org/officeDocument/2006/relationships/slide" Target="/ppt/slides/slide2.xml" Id="Re51368b572be4ef2" /><Relationship Type="http://schemas.openxmlformats.org/officeDocument/2006/relationships/slide" Target="/ppt/slides/slide3.xml" Id="R2006ddd3c2ea481d" /><Relationship Type="http://schemas.openxmlformats.org/officeDocument/2006/relationships/slide" Target="/ppt/slides/slide4.xml" Id="R33f4cf92ebf649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b9971611d6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de2f92ce874079" /><Relationship Type="http://schemas.openxmlformats.org/officeDocument/2006/relationships/notesMaster" Target="/ppt/notesMasters/notesMaster1.xml" Id="R11c1cb13a01c4b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58ce448a384d4a" /><Relationship Type="http://schemas.openxmlformats.org/officeDocument/2006/relationships/notesMaster" Target="/ppt/notesMasters/notesMaster1.xml" Id="R8de44428e34142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5e78284de14601" /><Relationship Type="http://schemas.openxmlformats.org/officeDocument/2006/relationships/notesMaster" Target="/ppt/notesMasters/notesMaster1.xml" Id="R4a70956ffcf449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11dd4e808d4e51" /><Relationship Type="http://schemas.openxmlformats.org/officeDocument/2006/relationships/notesMaster" Target="/ppt/notesMasters/notesMaster1.xml" Id="Rd96b18bf718e4a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decision: this is approval to run a controlled pilot and calibrate inputs. It is not approval of the illustrative rates. The customer-facing grid can remain simple while the economics and contract controls are made explicit behind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project: README and rebate_contract.py contract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central issue is not whether the grid is easy to explain—it is. The issue is whether the numbers are defensible. The prior random-search objective contained only rebate cost, so lower rates always win. The single-elasticity formulation has an unconstrained optimum of 25% at elasticity 2.0, above the 15% cap, so the cap drives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project: Brute_Force_Optimizer.ipynb.</a:t>
            </a:r>
          </a:p>
          <a:p xmlns:a="http://schemas.openxmlformats.org/drawingml/2006/main">
            <a:r>
              <a:t>- Internal project: Optimized_Rebate_Simulator.py.</a:t>
            </a:r>
          </a:p>
          <a:p xmlns:a="http://schemas.openxmlformats.org/drawingml/2006/main">
            <a:r>
              <a:t>- Internal project: rebate_contract.py.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mechanics slowly. The forecast determines the initial tier. The scenario response produces $138,000 projected revenue. Because the proposed contract pays only on revenue above the $100,000 baseline, the payout is $3,800, leaving $134,200 net revenue. The grid on the right is an example presentation, not an optimized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project: README worked example.</a:t>
            </a:r>
          </a:p>
          <a:p xmlns:a="http://schemas.openxmlformats.org/drawingml/2006/main">
            <a:r>
              <a:t>- User-provided illustrative rebate grid transcribed into editable table 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governance. The pilot should have a defined budget, owners, a credible comparison group, and pre-agreed success criteria. Finance, Legal, and Commercial should approve final customer wording only after the assumptions and pilot results are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project: README recommended stakeholder path.</a:t>
            </a:r>
          </a:p>
          <a:p xmlns:a="http://schemas.openxmlformats.org/drawingml/2006/main">
            <a:r>
              <a:t>- Internal project: rebate_contract.py scenario, budget, and migration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4eeac33a0c4b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69176bbacf478e" /><Relationship Type="http://schemas.openxmlformats.org/officeDocument/2006/relationships/slideLayout" Target="/ppt/slideLayouts/slideLayout1.xml" Id="R312f9b94c1a149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2f9b94c1a149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1ddbaff7f4894" /><Relationship Type="http://schemas.openxmlformats.org/officeDocument/2006/relationships/notesSlide" Target="/ppt/notesSlides/notesSlide1.xml" Id="Ra77fafafb2874d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f10b8639d433f" /><Relationship Type="http://schemas.openxmlformats.org/officeDocument/2006/relationships/notesSlide" Target="/ppt/notesSlides/notesSlide2.xml" Id="R9e7c4e91520745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dc39d0d2a44a9" /><Relationship Type="http://schemas.openxmlformats.org/officeDocument/2006/relationships/notesSlide" Target="/ppt/notesSlides/notesSlide3.xml" Id="R34d8ff9f9eef44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26555ee53416a" /><Relationship Type="http://schemas.openxmlformats.org/officeDocument/2006/relationships/notesSlide" Target="/ppt/notesSlides/notesSlide4.xml" Id="R403e41235ae44c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3B4C7-C45E-455A-9EDE-0C99966F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A1576-0A1C-4C2B-B13F-57AE7DC9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990600"/>
            <a:ext cx="3381375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84D1"/>
          </a:solidFill>
          <a:ln xmlns:a="http://schemas.openxmlformats.org/drawingml/2006/main" w="9525">
            <a:solidFill>
              <a:srgbClr val="0B84D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5AEA0-9D99-4D16-B7D3-59DC3024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4D1"/>
                </a:solidFill>
                <a:latin typeface="Aptos"/>
                <a:ea typeface="Aptos"/>
                <a:cs typeface="Aptos"/>
              </a:defRPr>
            </a:pPr>
            <a:r>
              <a:t>QUARTERLY REBATE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27BE5-1862-48B0-BE0D-D6C624E7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6191250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A safer way to design quarterly rebates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AFE83-53D4-4281-A894-C77DF36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95312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A constraint-based contract proposal that makes eligibility, payout exposure, and downside protection explicit.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87376-0FFA-43A2-AB78-CB4BD484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857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2C367-E5F0-4E46-982C-D5BF6029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476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726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Decision requested  •  Approve a controlled pilot—not final commercial rates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67135-9DD9-43AA-A4F1-E086C6BD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381125"/>
            <a:ext cx="2571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GROWTH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4D1A8-D28A-41D2-AEEA-BD8AD993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057400"/>
            <a:ext cx="857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48DBC-6965-4C93-BCB6-A11104E8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571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VOLUME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F8D9F-1D72-4CC9-91B1-EBBDB089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2861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ONE EARNED CELL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2EB1E-A357-4AE7-8A01-8262151B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76850"/>
            <a:ext cx="3667125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DE8F8"/>
                </a:solidFill>
                <a:latin typeface="Aptos"/>
                <a:ea typeface="Aptos"/>
                <a:cs typeface="Aptos"/>
              </a:defRPr>
            </a:pPr>
            <a:r>
              <a:t>Clear to customers. Controlled by design.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FEE70-E018-4FFF-A16A-0210CA45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INTERNAL PROPOSAL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78419-FE6B-4D50-90DB-DF151F33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38122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6994C-7F14-449D-82E7-7107234B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096625" cy="809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307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The grid is simple; the economics behind it must be controlled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371EB-A636-4C13-95A9-500785C7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The old methods optimize their own assumptions. The proposed design exposes and constrains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96D7F6-D555-4D27-B1D5-5AF7608C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530542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4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6EFB2-DF88-4EBC-A5B4-272529B2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14500"/>
            <a:ext cx="530542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995F4-2CA6-40D7-B72A-B5FEA1A3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193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4A4A"/>
                </a:solidFill>
                <a:latin typeface="Aptos"/>
                <a:ea typeface="Aptos"/>
                <a:cs typeface="Aptos"/>
              </a:defRPr>
            </a:pPr>
            <a:r>
              <a:t>WHY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C0D80-438A-42AC-A03A-CA942188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0300"/>
            <a:ext cx="44291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Current analytical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F124E-0D3C-4E99-B227-298DDD83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24200"/>
            <a:ext cx="451485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01  Random search is mislabeled “brute force”
02  Revenue-minus-payout favors minimum rates
03  One elasticity pushes the solution to the cap
04  Observational ML is not a causal pricing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A1FDC-E022-4BC3-85B5-2467CCA8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193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B6E8"/>
                </a:solidFill>
                <a:latin typeface="Aptos"/>
                <a:ea typeface="Aptos"/>
                <a:cs typeface="Aptos"/>
              </a:defRPr>
            </a:pPr>
            <a:r>
              <a:t>PROPOSED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DC795-82AB-42FA-A6C3-B69B86E0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4552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Contract-led 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0B1E6-2E2F-4B08-A6B6-19DB0200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24200"/>
            <a:ext cx="451485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CEAF4"/>
                </a:solidFill>
                <a:latin typeface="Aptos"/>
                <a:ea typeface="Aptos"/>
                <a:cs typeface="Aptos"/>
              </a:defRPr>
            </a:pPr>
            <a:r>
              <a:t>01  Frozen same-quarter prior-year baseline
02  Incremental-revenue payout by default
03  Discrete monotone rates + cell coverage
04  Budget, low-case guard, and migration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681F2-F3FB-48DE-B2C0-E1587327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63300" cy="390525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55AC5-F227-4472-8B59-F894C8AD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63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Result: every customer rate maps to an explicit rule, a population, and a scenario-tested dollar outcome.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E4E05-8C0A-4134-9B97-66E3A4AC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INTERNAL PROPOSAL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6E9CD-57D8-49CB-B5FF-41E04DBB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5834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9DF37-A6CD-4288-9921-D73A384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20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Every rate is traceable to a rule and a dollar calculation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F76C7-69D4-45BF-AF20-6F6F357D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204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Illustrative account • Baseline $100k • Forecast $120k • Elasticity 1.5 • Earned rate 10%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BBF22-9576-42EC-A110-B52ED155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38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AEF22-695A-4901-A2A5-66B2CD12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857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B6E8"/>
                </a:solidFill>
                <a:latin typeface="Aptos"/>
                <a:ea typeface="Aptos"/>
                <a:cs typeface="Aptos"/>
              </a:defRPr>
            </a:pPr>
            <a:r>
              <a:t>WORKED ECONOMICS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E6182-C338-4445-8FA6-F2D7B73E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D4E7"/>
                </a:solidFill>
                <a:latin typeface="Aptos"/>
                <a:ea typeface="Aptos"/>
                <a:cs typeface="Aptos"/>
              </a:defRPr>
            </a:pPr>
            <a:r>
              <a:t>Projected revenue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5C566-1966-4F12-8201-DB6CD096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$120k × (1 + 1.5 × 10%)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DA7C5-F75B-4940-862B-F2DAC71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762250"/>
            <a:ext cx="1381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t>= $138,000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0ECA6-905D-47F3-89A6-87018B92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D4E7"/>
                </a:solidFill>
                <a:latin typeface="Aptos"/>
                <a:ea typeface="Aptos"/>
                <a:cs typeface="Aptos"/>
              </a:defRPr>
            </a:pPr>
            <a:r>
              <a:t>Incremental payout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41B8B-F2C1-4514-8EFD-22A04E29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10% × ($138k − $100k)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033FB-FACC-4055-9632-324D1B85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686175"/>
            <a:ext cx="1381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t>= $3,800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781050" y="4400550"/>
            <a:ext cx="46291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1738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EB9EA-AA26-4C06-9A19-BCF29A94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B6E8"/>
                </a:solidFill>
                <a:latin typeface="Aptos"/>
                <a:ea typeface="Aptos"/>
                <a:cs typeface="Aptos"/>
              </a:defRPr>
            </a:pPr>
            <a:r>
              <a:t>NET 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EFCBF-E331-434F-AE3B-922FA94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72000"/>
            <a:ext cx="2514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$134,200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BC976-0C75-4AC2-9E28-4C18A558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4629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DDF7EE"/>
                </a:solidFill>
                <a:latin typeface="Aptos"/>
                <a:ea typeface="Aptos"/>
                <a:cs typeface="Aptos"/>
              </a:defRPr>
            </a:pPr>
            <a:r>
              <a:t>+$14,200 vs. no program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9C38A-EBF8-428A-B37B-5CD1E481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314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84D1"/>
                </a:solidFill>
                <a:latin typeface="Aptos"/>
                <a:ea typeface="Aptos"/>
                <a:cs typeface="Aptos"/>
              </a:defRPr>
            </a:pPr>
            <a:r>
              <a:t>CUSTOMER-FACING GRID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172200" y="2152650"/>
          <a:ext xmlns:a="http://schemas.openxmlformats.org/drawingml/2006/main" cx="5467350" cy="2743200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5450"/>
                <a:gridCol w="1257300"/>
                <a:gridCol w="1257300"/>
                <a:gridCol w="1257300"/>
              </a:tblGrid>
              <a:tr h="548640">
                <a:tc>
                  <a:txBody>
                    <a:bodyPr/>
                    <a:lstStyle/>
                    <a:p>
                      <a:r>
                        <a:t>Growth \ Volume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$6.5k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$25k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$50k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7%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9%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B34A3-E1CC-4C3C-89C7-773B1DA6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546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2209A-0B5E-4CB0-ABDD-EA5F5D25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76850"/>
            <a:ext cx="504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Illustrative only. Thresholds must pass account coverage, revenue coverage, budget, and low-case constraints.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D9E42-E1EA-499B-9BD6-1A64C0D0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INTERNAL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5F8C3-2CE0-47EC-869A-89D1D897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43930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0F2A8-CB60-46A9-AFB5-EC841627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19187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58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Approve a pilot with three gates before contract launch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D8FFD-5819-48D6-8C7D-1AA4AE7E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52525"/>
            <a:ext cx="1085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The objective is to replace assumed response with observed evidence while controlling payout exposure.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000125" y="2790825"/>
            <a:ext cx="904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7D4D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43721-4BC0-40D5-A7EC-B57A35DC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4D1"/>
          </a:solidFill>
          <a:ln xmlns:a="http://schemas.openxmlformats.org/drawingml/2006/main" w="9525">
            <a:solidFill>
              <a:srgbClr val="0B84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8DF08-275A-4AB3-A9C3-3E44E503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2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4D1"/>
          </a:solidFill>
          <a:ln xmlns:a="http://schemas.openxmlformats.org/drawingml/2006/main" w="9525">
            <a:solidFill>
              <a:srgbClr val="0B84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9166D-5FAF-4A57-9A85-9CCDC995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4D1"/>
          </a:solidFill>
          <a:ln xmlns:a="http://schemas.openxmlformats.org/drawingml/2006/main" w="9525">
            <a:solidFill>
              <a:srgbClr val="0B84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DA27A-0DE4-46D3-BFAC-1D8D55A9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9A340-C961-4DFA-9F51-BF03CF66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52A09-2490-4AA7-BBDC-8DBDB23F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4F054-0F5B-46E8-880F-688878AE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4D1"/>
                </a:solidFill>
                <a:latin typeface="Aptos"/>
                <a:ea typeface="Aptos"/>
                <a:cs typeface="Aptos"/>
              </a:defRPr>
            </a:pPr>
            <a:r>
              <a:t>CALIBRATE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312BF-A7E7-4C91-962A-5F515387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193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4D1"/>
                </a:solidFill>
                <a:latin typeface="Aptos"/>
                <a:ea typeface="Aptos"/>
                <a:cs typeface="Aptos"/>
              </a:defRPr>
            </a:pPr>
            <a:r>
              <a:t>SIMULATE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9C1B5-AA21-41C5-82CC-D96438F0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193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4D1"/>
                </a:solidFill>
                <a:latin typeface="Aptos"/>
                <a:ea typeface="Aptos"/>
                <a:cs typeface="Aptos"/>
              </a:defRPr>
            </a:pPr>
            <a: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149F7-B3E8-4051-B857-82CFCB55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9051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46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Set assumptions and ceiling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6013B-9BEA-4548-B992-11779F0C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90512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Finance + Commercial validate low/base/high response, eligible revenue, and maximum payout.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3762A-BEB9-4E54-A421-610FB0BB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29051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Challenge the full grid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BF3D6-FB05-4764-87A6-BCF31F2B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00500"/>
            <a:ext cx="290512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Compare threshold coverage, scenario economics, downside protection, and migration stability.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38D4E-1F3D-45D9-A344-3440B487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29051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t>Measure realized lift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23015-01BA-4AE7-B29F-D259C59E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290512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Run a limited cohort with a holdout, pre-agreed success measures, and payout monitoring.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6C64D-9CE8-4C67-9211-94247F38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119187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90846-CC31-46B1-9AE2-E765CD1C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B6E8"/>
                </a:solidFill>
                <a:latin typeface="Aptos"/>
                <a:ea typeface="Aptos"/>
                <a:cs typeface="Aptos"/>
              </a:defRPr>
            </a:pPr>
            <a:r>
              <a:t>TODAY’S 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59313-E2CA-4FD4-8108-959F984E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38800"/>
            <a:ext cx="885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54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Approve pilot scope  •  Name Finance and Commercial owners  •  Set the payout ceiling and success threshold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83B1C-1A17-4511-93F1-8BBC0CEA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293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INTERNAL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B47853-EB26-44BA-A06A-0F455574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29375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C7B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3558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2026-07-28T23:05:54.0680000Z</dcterms:created>
  <dcterms:modified xsi:type="dcterms:W3CDTF">2026-07-28T23:05:54.0680000Z</dcterms:modified>
</coreProperties>
</file>